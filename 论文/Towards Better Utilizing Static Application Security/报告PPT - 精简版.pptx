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9" r:id="rId2"/>
    <p:sldId id="270" r:id="rId3"/>
    <p:sldId id="271" r:id="rId4"/>
    <p:sldId id="289" r:id="rId5"/>
    <p:sldId id="273" r:id="rId6"/>
    <p:sldId id="285" r:id="rId7"/>
    <p:sldId id="292" r:id="rId8"/>
    <p:sldId id="293" r:id="rId9"/>
    <p:sldId id="295" r:id="rId10"/>
    <p:sldId id="296" r:id="rId11"/>
    <p:sldId id="297" r:id="rId12"/>
    <p:sldId id="274" r:id="rId13"/>
    <p:sldId id="298" r:id="rId14"/>
    <p:sldId id="299" r:id="rId15"/>
    <p:sldId id="300" r:id="rId16"/>
    <p:sldId id="301" r:id="rId17"/>
    <p:sldId id="302" r:id="rId18"/>
    <p:sldId id="303" r:id="rId19"/>
    <p:sldId id="304" r:id="rId20"/>
    <p:sldId id="305" r:id="rId21"/>
    <p:sldId id="307" r:id="rId22"/>
    <p:sldId id="308" r:id="rId23"/>
    <p:sldId id="309" r:id="rId24"/>
    <p:sldId id="310" r:id="rId25"/>
    <p:sldId id="275" r:id="rId26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FFD966"/>
    <a:srgbClr val="7F7F7F"/>
    <a:srgbClr val="F8CE7C"/>
    <a:srgbClr val="D0B0A9"/>
    <a:srgbClr val="4C302A"/>
    <a:srgbClr val="B7A784"/>
    <a:srgbClr val="D2836E"/>
    <a:srgbClr val="B59666"/>
    <a:srgbClr val="4B38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12" autoAdjust="0"/>
    <p:restoredTop sz="96318" autoAdjust="0"/>
  </p:normalViewPr>
  <p:slideViewPr>
    <p:cSldViewPr snapToGrid="0">
      <p:cViewPr varScale="1">
        <p:scale>
          <a:sx n="87" d="100"/>
          <a:sy n="87" d="100"/>
        </p:scale>
        <p:origin x="46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FC243-3E68-4BFF-A505-ADDF9D7195A4}" type="datetimeFigureOut">
              <a:rPr lang="zh-CN" altLang="en-US" smtClean="0"/>
              <a:t>2020/6/9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7D84A-3049-44F6-8517-64F0971FDD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77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545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640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93734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63266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69714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19270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91996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98891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9221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7163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70468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0113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95014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6137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9309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2043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37429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51403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3915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93437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74687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22411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87114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3822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3905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A646B-F117-4928-A8A2-1716300C3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781FEE-C1F4-469A-9E36-8F4601D2E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552C6-A02E-47D7-A268-DC48634E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A628B0-905E-46AF-9C51-C2B5AF89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B8A775-5E37-4409-A4E7-F0814E9F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59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B327-6DC4-489C-A130-8CF667D3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6EB504-E0E5-46C5-B6D0-95B1660E2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30CF13-8903-4992-88F7-C55D7F4E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41C592-991D-4A88-81B0-FA07E26D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6A61AE-DFB6-4E40-B78C-76E64498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82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EF327-DE46-4FD7-851C-CAD5A20A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308B61-6FAC-4108-97CC-3ACD182B9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CB1DC-8355-42C5-AF00-8E36F02E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A65AD0-D1B3-49A8-9F94-E603B5BA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33DBE1-743B-438D-92D3-E40E206A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13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DA7060-857A-4930-832C-C09BFD4F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7FF8F7-2B15-4A01-A575-53845FA96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701E7A-8C68-4E20-A803-855BD0F40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615B9C-5EC5-4D9B-B5D9-BB297278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2F8F48-9F51-4F97-9DA9-9E015ACE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A7C295-EAAA-41B7-986C-D8AFF63F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77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F4CDC-4DFE-4DB1-972E-CE28FCB9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09ECFB-135A-4BF2-82FE-C09909424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914377-BA6A-4199-BDEB-7EFD3B82F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A16539-559F-474B-992A-1331A0355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C14912-C4A7-47EF-A8EC-B0F50FA65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1CC34F-E9B9-4EFD-A3C4-0BA19D4E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2020/6/9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306A62-EAF9-495D-B60F-8B898B61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51980E-AD6D-4890-B2E1-61420E5A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40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66452-93AB-427B-9625-F906CB897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FD17F3-7053-4148-800C-FB4B3C05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2020/6/9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709179-9F05-4ED9-898C-DD1E14C4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DE3C05-79FC-42A5-B9A2-AC8CCD3D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59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BF4A8C-F0F4-41A6-BF41-876FEF21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2020/6/9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4BE2DC-A408-49B2-A4F8-EE9769AF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A16DA8-302B-4AE1-AF88-B9CFFEEE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900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40FE9-4853-4B02-9ACB-5CAF1884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8361D0-290C-442A-8B44-B0642C42D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EF0013-B4AF-4C3C-AB98-C192E7C39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A2650F-35B1-4222-8E3D-55C4DBD2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E7498D-7297-4B92-A228-86A6C9060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A8D0AA-D078-408B-B714-3CE8EF0C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46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FEBB0-8B3B-410D-A075-42A14BE6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37B9B3-435A-479F-8455-3BFE235CA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B4E751-9289-4C4E-9418-EE2ED45DD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7B3CBA-A6F8-46D2-B8FE-0FCC383C9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64EF54-A7CA-4392-9234-4DDE22D7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75E53-F65D-44C7-939C-A76A1D47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11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16F80-4702-44BD-867F-324A473E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F0CDC5-CE5D-4691-97FD-895FAEEA2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E9BBA-8B26-464A-893C-B296D43F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601B33-B587-4FB0-85AB-DDC1F4A3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0712C-C969-4C2A-8ABC-CCD2466F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33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EEDC4F-CF6F-4F5A-B7D5-5DDA55C29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88988E-73BA-47A0-9593-2824B50A4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CE60E4-1A17-46B8-BD11-6895D1EA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CB261-00A7-4DFD-8566-0F34AD0B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146E0-61EB-40A0-AEB0-9AAA4858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40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65000"/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24FEF5-80E6-49C9-85D6-2BC478298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AF9174-E843-4ABD-B37E-7C4FA3D2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DB30D1-E683-4A0D-B10E-812E5E4C6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FDAE1-EB67-42CF-B593-56AA292DA8C8}" type="datetimeFigureOut">
              <a:rPr lang="zh-CN" altLang="en-US" smtClean="0"/>
              <a:t>2020/6/9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56DC2-E1F5-4995-85FF-140FC7BF9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04F22-1EEB-4F3C-8EF1-26E3E5B27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24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E1B4E00B-A59F-40B7-AE12-5CA474CE7727}"/>
              </a:ext>
            </a:extLst>
          </p:cNvPr>
          <p:cNvSpPr/>
          <p:nvPr/>
        </p:nvSpPr>
        <p:spPr>
          <a:xfrm>
            <a:off x="3006189" y="2318083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6422D18-37EE-4390-A0D0-947CB31C5CD6}"/>
              </a:ext>
            </a:extLst>
          </p:cNvPr>
          <p:cNvSpPr/>
          <p:nvPr/>
        </p:nvSpPr>
        <p:spPr>
          <a:xfrm>
            <a:off x="9228795" y="320040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95759E0-70EB-4F31-9979-C48DF9140050}"/>
              </a:ext>
            </a:extLst>
          </p:cNvPr>
          <p:cNvSpPr/>
          <p:nvPr/>
        </p:nvSpPr>
        <p:spPr>
          <a:xfrm>
            <a:off x="2744906" y="1382479"/>
            <a:ext cx="4093043" cy="409304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E665AE-D1F7-4530-A01D-8118F2016433}"/>
              </a:ext>
            </a:extLst>
          </p:cNvPr>
          <p:cNvSpPr/>
          <p:nvPr/>
        </p:nvSpPr>
        <p:spPr>
          <a:xfrm>
            <a:off x="2144834" y="2867701"/>
            <a:ext cx="6166377" cy="122341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>
              <a:defRPr/>
            </a:pPr>
            <a:r>
              <a:rPr lang="zh-CN" altLang="en-US" sz="7500" b="1" spc="225" dirty="0">
                <a:solidFill>
                  <a:srgbClr val="292929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+mn-ea"/>
                <a:sym typeface="+mn-lt"/>
              </a:rPr>
              <a:t>报告</a:t>
            </a:r>
            <a:endParaRPr sz="7500" b="1" spc="225" dirty="0">
              <a:solidFill>
                <a:srgbClr val="292929"/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8238AC-3B1F-4281-98A3-D0FE900CC5AA}"/>
              </a:ext>
            </a:extLst>
          </p:cNvPr>
          <p:cNvSpPr/>
          <p:nvPr/>
        </p:nvSpPr>
        <p:spPr>
          <a:xfrm>
            <a:off x="5999198" y="4101335"/>
            <a:ext cx="2922749" cy="43858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>
              <a:defRPr/>
            </a:pPr>
            <a:r>
              <a:rPr lang="zh-CN" altLang="en-US" sz="2400" spc="225" dirty="0">
                <a:solidFill>
                  <a:srgbClr val="292929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+mn-ea"/>
                <a:sym typeface="+mn-lt"/>
              </a:rPr>
              <a:t>汇报人：陈克豪</a:t>
            </a:r>
            <a:endParaRPr sz="2400" spc="225" dirty="0">
              <a:solidFill>
                <a:srgbClr val="292929"/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2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1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extLst>
              <a:ext uri="{FF2B5EF4-FFF2-40B4-BE49-F238E27FC236}">
                <a16:creationId xmlns:a16="http://schemas.microsoft.com/office/drawing/2014/main" id="{D95C6D15-67FC-459B-A9E1-0E5AE34FBABB}"/>
              </a:ext>
            </a:extLst>
          </p:cNvPr>
          <p:cNvSpPr/>
          <p:nvPr/>
        </p:nvSpPr>
        <p:spPr>
          <a:xfrm>
            <a:off x="1467889" y="2361689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7C8471AE-8075-4055-999E-7F5FB6475BDF}"/>
              </a:ext>
            </a:extLst>
          </p:cNvPr>
          <p:cNvSpPr/>
          <p:nvPr/>
        </p:nvSpPr>
        <p:spPr>
          <a:xfrm>
            <a:off x="5201419" y="4613027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BD1AA97-8D5D-41BB-A69B-FC98226314BD}"/>
              </a:ext>
            </a:extLst>
          </p:cNvPr>
          <p:cNvSpPr/>
          <p:nvPr/>
        </p:nvSpPr>
        <p:spPr>
          <a:xfrm>
            <a:off x="1301199" y="1830549"/>
            <a:ext cx="3284115" cy="3284115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B456296-6DD8-4B7C-B908-15E5D6D45644}"/>
              </a:ext>
            </a:extLst>
          </p:cNvPr>
          <p:cNvSpPr txBox="1"/>
          <p:nvPr/>
        </p:nvSpPr>
        <p:spPr>
          <a:xfrm>
            <a:off x="1851387" y="2935814"/>
            <a:ext cx="36766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sz="5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目录</a:t>
            </a:r>
            <a:r>
              <a:rPr lang="en-US" altLang="zh-CN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content</a:t>
            </a:r>
            <a:endParaRPr lang="en-US" altLang="zh-CN" sz="5400" dirty="0">
              <a:solidFill>
                <a:schemeClr val="tx1">
                  <a:lumMod val="75000"/>
                  <a:lumOff val="2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648C587-C8E5-481F-9366-C41B8CC67B5C}"/>
              </a:ext>
            </a:extLst>
          </p:cNvPr>
          <p:cNvSpPr txBox="1"/>
          <p:nvPr/>
        </p:nvSpPr>
        <p:spPr>
          <a:xfrm>
            <a:off x="6096000" y="822569"/>
            <a:ext cx="26276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1. </a:t>
            </a: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介绍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D3F1F5E-2F19-42A2-814C-C735B6B0D98C}"/>
              </a:ext>
            </a:extLst>
          </p:cNvPr>
          <p:cNvSpPr txBox="1"/>
          <p:nvPr/>
        </p:nvSpPr>
        <p:spPr>
          <a:xfrm>
            <a:off x="6096000" y="2521320"/>
            <a:ext cx="26276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3. </a:t>
            </a: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评估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351D9B3-4EFB-495B-9CF5-1FDCB19B13F1}"/>
              </a:ext>
            </a:extLst>
          </p:cNvPr>
          <p:cNvSpPr txBox="1"/>
          <p:nvPr/>
        </p:nvSpPr>
        <p:spPr>
          <a:xfrm>
            <a:off x="6095999" y="1671359"/>
            <a:ext cx="6000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2. </a:t>
            </a: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挑战、影响和解决方案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0AC75C6-C365-4063-9484-DC573736F4EF}"/>
              </a:ext>
            </a:extLst>
          </p:cNvPr>
          <p:cNvSpPr/>
          <p:nvPr/>
        </p:nvSpPr>
        <p:spPr>
          <a:xfrm flipH="1">
            <a:off x="11340853" y="5152295"/>
            <a:ext cx="353943" cy="1841541"/>
          </a:xfrm>
          <a:prstGeom prst="rect">
            <a:avLst/>
          </a:prstGeom>
        </p:spPr>
        <p:txBody>
          <a:bodyPr vert="eaVert" wrap="square" lIns="68580" tIns="34290" rIns="68580" bIns="34290">
            <a:spAutoFit/>
          </a:bodyPr>
          <a:lstStyle/>
          <a:p>
            <a:pPr>
              <a:defRPr/>
            </a:pPr>
            <a:r>
              <a:rPr lang="en-US" altLang="zh-CN" sz="1400" spc="225" dirty="0">
                <a:solidFill>
                  <a:srgbClr val="292929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+mn-ea"/>
                <a:sym typeface="+mn-lt"/>
              </a:rPr>
              <a:t>CONTENT</a:t>
            </a:r>
            <a:endParaRPr sz="1400" spc="225" dirty="0">
              <a:solidFill>
                <a:srgbClr val="292929"/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83DA3B-1930-4EAB-BDEC-113AF359F85B}"/>
              </a:ext>
            </a:extLst>
          </p:cNvPr>
          <p:cNvSpPr/>
          <p:nvPr/>
        </p:nvSpPr>
        <p:spPr>
          <a:xfrm flipH="1">
            <a:off x="11469292" y="6256421"/>
            <a:ext cx="97066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62D38A5-E2FA-4FE8-91BC-E4ED883EE7B0}"/>
              </a:ext>
            </a:extLst>
          </p:cNvPr>
          <p:cNvSpPr txBox="1"/>
          <p:nvPr/>
        </p:nvSpPr>
        <p:spPr>
          <a:xfrm>
            <a:off x="6095999" y="3371281"/>
            <a:ext cx="4538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4. </a:t>
            </a: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还存在的问题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07F1752-C5C0-4472-BA2C-3FC47248F533}"/>
              </a:ext>
            </a:extLst>
          </p:cNvPr>
          <p:cNvSpPr txBox="1"/>
          <p:nvPr/>
        </p:nvSpPr>
        <p:spPr>
          <a:xfrm>
            <a:off x="6095999" y="4221242"/>
            <a:ext cx="39402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5. </a:t>
            </a: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前人相关工作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61B189E-87DD-4AE7-B752-E068D01E7156}"/>
              </a:ext>
            </a:extLst>
          </p:cNvPr>
          <p:cNvSpPr txBox="1"/>
          <p:nvPr/>
        </p:nvSpPr>
        <p:spPr>
          <a:xfrm>
            <a:off x="6095998" y="5071203"/>
            <a:ext cx="39402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6. </a:t>
            </a: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125500071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/>
      <p:bldP spid="23" grpId="0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D70A44E5-3CD4-4A08-A0CD-618D04D79A40}"/>
              </a:ext>
            </a:extLst>
          </p:cNvPr>
          <p:cNvSpPr/>
          <p:nvPr/>
        </p:nvSpPr>
        <p:spPr>
          <a:xfrm>
            <a:off x="9821300" y="3624585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A8DD4BB-51C7-4C0B-81C4-F1B066DB113D}"/>
              </a:ext>
            </a:extLst>
          </p:cNvPr>
          <p:cNvGrpSpPr/>
          <p:nvPr/>
        </p:nvGrpSpPr>
        <p:grpSpPr>
          <a:xfrm>
            <a:off x="1882813" y="2027836"/>
            <a:ext cx="3272128" cy="3272128"/>
            <a:chOff x="1269667" y="1823914"/>
            <a:chExt cx="4093043" cy="4093043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03542460-5FFA-469E-BC92-40A91DA1B964}"/>
                </a:ext>
              </a:extLst>
            </p:cNvPr>
            <p:cNvSpPr/>
            <p:nvPr/>
          </p:nvSpPr>
          <p:spPr>
            <a:xfrm>
              <a:off x="1530950" y="2759518"/>
              <a:ext cx="2221834" cy="22218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098EAFD0-5228-4051-B8BE-C549502A83FC}"/>
                </a:ext>
              </a:extLst>
            </p:cNvPr>
            <p:cNvSpPr/>
            <p:nvPr/>
          </p:nvSpPr>
          <p:spPr>
            <a:xfrm>
              <a:off x="1269667" y="1823914"/>
              <a:ext cx="4093043" cy="4093043"/>
            </a:xfrm>
            <a:prstGeom prst="ellipse">
              <a:avLst/>
            </a:prstGeom>
            <a:noFill/>
            <a:ln w="571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2553F943-7E5E-4A56-B451-0160855CD2F9}"/>
              </a:ext>
            </a:extLst>
          </p:cNvPr>
          <p:cNvSpPr/>
          <p:nvPr/>
        </p:nvSpPr>
        <p:spPr>
          <a:xfrm>
            <a:off x="4646531" y="2959188"/>
            <a:ext cx="4093044" cy="122341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>
              <a:defRPr/>
            </a:pPr>
            <a:r>
              <a:rPr lang="zh-CN" altLang="en-US" sz="7500" b="1" spc="225" dirty="0">
                <a:solidFill>
                  <a:srgbClr val="292929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+mn-ea"/>
                <a:sym typeface="+mn-lt"/>
              </a:rPr>
              <a:t>介绍</a:t>
            </a:r>
            <a:endParaRPr sz="7500" b="1" spc="225" dirty="0">
              <a:solidFill>
                <a:srgbClr val="292929"/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78984A5-F46A-499C-BB67-5E5FBC7EBD3A}"/>
              </a:ext>
            </a:extLst>
          </p:cNvPr>
          <p:cNvSpPr txBox="1"/>
          <p:nvPr/>
        </p:nvSpPr>
        <p:spPr>
          <a:xfrm>
            <a:off x="2037201" y="2959188"/>
            <a:ext cx="18307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5891201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ECC91A8-7BC0-4CBD-8CCF-CE79DA7DC120}"/>
              </a:ext>
            </a:extLst>
          </p:cNvPr>
          <p:cNvSpPr/>
          <p:nvPr/>
        </p:nvSpPr>
        <p:spPr>
          <a:xfrm>
            <a:off x="340504" y="846574"/>
            <a:ext cx="43396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主题：更好地利用静态应用程序安全测试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AEEB036-ADC6-4EE2-8942-F939433E1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1799" y="2030609"/>
            <a:ext cx="5784081" cy="279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31342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D70A44E5-3CD4-4A08-A0CD-618D04D79A40}"/>
              </a:ext>
            </a:extLst>
          </p:cNvPr>
          <p:cNvSpPr/>
          <p:nvPr/>
        </p:nvSpPr>
        <p:spPr>
          <a:xfrm>
            <a:off x="9821300" y="3624585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A8DD4BB-51C7-4C0B-81C4-F1B066DB113D}"/>
              </a:ext>
            </a:extLst>
          </p:cNvPr>
          <p:cNvGrpSpPr/>
          <p:nvPr/>
        </p:nvGrpSpPr>
        <p:grpSpPr>
          <a:xfrm>
            <a:off x="1882813" y="2027836"/>
            <a:ext cx="3272128" cy="3272128"/>
            <a:chOff x="1269667" y="1823914"/>
            <a:chExt cx="4093043" cy="4093043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03542460-5FFA-469E-BC92-40A91DA1B964}"/>
                </a:ext>
              </a:extLst>
            </p:cNvPr>
            <p:cNvSpPr/>
            <p:nvPr/>
          </p:nvSpPr>
          <p:spPr>
            <a:xfrm>
              <a:off x="1530950" y="2759518"/>
              <a:ext cx="2221834" cy="22218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098EAFD0-5228-4051-B8BE-C549502A83FC}"/>
                </a:ext>
              </a:extLst>
            </p:cNvPr>
            <p:cNvSpPr/>
            <p:nvPr/>
          </p:nvSpPr>
          <p:spPr>
            <a:xfrm>
              <a:off x="1269667" y="1823914"/>
              <a:ext cx="4093043" cy="4093043"/>
            </a:xfrm>
            <a:prstGeom prst="ellipse">
              <a:avLst/>
            </a:prstGeom>
            <a:noFill/>
            <a:ln w="571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2553F943-7E5E-4A56-B451-0160855CD2F9}"/>
              </a:ext>
            </a:extLst>
          </p:cNvPr>
          <p:cNvSpPr/>
          <p:nvPr/>
        </p:nvSpPr>
        <p:spPr>
          <a:xfrm>
            <a:off x="4604008" y="3216950"/>
            <a:ext cx="7440174" cy="80791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4800" b="1" spc="225" dirty="0">
                <a:solidFill>
                  <a:srgbClr val="292929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+mn-ea"/>
                <a:sym typeface="+mn-lt"/>
              </a:rPr>
              <a:t>挑战、影响和解决方案</a:t>
            </a:r>
            <a:endParaRPr sz="4800" b="1" spc="225" dirty="0">
              <a:solidFill>
                <a:srgbClr val="292929"/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78984A5-F46A-499C-BB67-5E5FBC7EBD3A}"/>
              </a:ext>
            </a:extLst>
          </p:cNvPr>
          <p:cNvSpPr txBox="1"/>
          <p:nvPr/>
        </p:nvSpPr>
        <p:spPr>
          <a:xfrm>
            <a:off x="2037201" y="2959188"/>
            <a:ext cx="18307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614576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3D2C4A3-1D03-440A-BF34-3BEF0F159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8706" y="2290156"/>
            <a:ext cx="6323809" cy="21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0879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B1BB290-A221-4A9E-8371-C33B0D8E7409}"/>
              </a:ext>
            </a:extLst>
          </p:cNvPr>
          <p:cNvSpPr txBox="1"/>
          <p:nvPr/>
        </p:nvSpPr>
        <p:spPr>
          <a:xfrm>
            <a:off x="3569677" y="1951892"/>
            <a:ext cx="380585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问题：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SAST</a:t>
            </a:r>
            <a:r>
              <a:rPr lang="zh-CN" altLang="en-US" dirty="0"/>
              <a:t>技术检测到的漏洞警告太多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不知道警告和警告之间的关系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处理一个警告会产生副作用 </a:t>
            </a: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r>
              <a:rPr lang="zh-CN" altLang="en-US" dirty="0"/>
              <a:t>解决办法</a:t>
            </a:r>
            <a:endParaRPr lang="en-US" altLang="zh-CN" dirty="0"/>
          </a:p>
          <a:p>
            <a:r>
              <a:rPr lang="en-US" altLang="zh-CN" dirty="0"/>
              <a:t>1. </a:t>
            </a:r>
            <a:r>
              <a:rPr lang="zh-CN" altLang="en-US" dirty="0"/>
              <a:t>识别首选的修复位置</a:t>
            </a:r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可视化方法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ECD50A8-C6C5-4097-BF21-50B93C4FD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732" y="774295"/>
            <a:ext cx="2164268" cy="35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3345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FF8DA2E-208A-4B68-B0AE-CFC56CA4C224}"/>
              </a:ext>
            </a:extLst>
          </p:cNvPr>
          <p:cNvSpPr/>
          <p:nvPr/>
        </p:nvSpPr>
        <p:spPr>
          <a:xfrm>
            <a:off x="45946" y="168625"/>
            <a:ext cx="60500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STHeitiSC-Light"/>
              </a:rPr>
              <a:t>提出了一种方法来识别警告的首选修复位置（即</a:t>
            </a:r>
            <a:r>
              <a:rPr lang="en-US" altLang="zh-CN" dirty="0" err="1">
                <a:solidFill>
                  <a:srgbClr val="333333"/>
                </a:solidFill>
                <a:latin typeface="STHeitiSC-Light"/>
              </a:rPr>
              <a:t>pFixLocs</a:t>
            </a:r>
            <a:r>
              <a:rPr lang="zh-CN" altLang="en-US" dirty="0">
                <a:solidFill>
                  <a:srgbClr val="333333"/>
                </a:solidFill>
                <a:latin typeface="STHeitiSC-Light"/>
              </a:rPr>
              <a:t>）</a:t>
            </a:r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8FE89D7-2A49-4FC8-BD1E-D17F7BD87942}"/>
              </a:ext>
            </a:extLst>
          </p:cNvPr>
          <p:cNvSpPr/>
          <p:nvPr/>
        </p:nvSpPr>
        <p:spPr>
          <a:xfrm>
            <a:off x="4383205" y="962771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400" dirty="0"/>
              <a:t>对于XSS，Priv可以找到三种pfixloc：数据流路径中的源、源的直接调用方，以及数据流路径前半部分（即从源到根调用方）中出现的Java类。</a:t>
            </a:r>
          </a:p>
          <a:p>
            <a:endParaRPr lang="zh-CN" altLang="en-US" sz="1400" dirty="0"/>
          </a:p>
          <a:p>
            <a:r>
              <a:rPr lang="zh-CN" altLang="en-US" sz="1400" dirty="0"/>
              <a:t>对于SQLi、COMMi和PATHtrv，Priv查找三种pfixloc类型：sink、数据流路径中sink的直接调用方和数据流路径后半部分（即从根调用方到sink）中出现的Java类。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6B4BDEC-D9D6-4BE5-A66A-194C0BA24DA7}"/>
              </a:ext>
            </a:extLst>
          </p:cNvPr>
          <p:cNvSpPr txBox="1"/>
          <p:nvPr/>
        </p:nvSpPr>
        <p:spPr>
          <a:xfrm>
            <a:off x="515465" y="870438"/>
            <a:ext cx="255550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识别的漏洞警告类型 ：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XSS</a:t>
            </a:r>
            <a:r>
              <a:rPr lang="zh-CN" altLang="en-US" dirty="0"/>
              <a:t>（跨站点脚本）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SQL</a:t>
            </a:r>
            <a:r>
              <a:rPr lang="zh-CN" altLang="en-US" dirty="0"/>
              <a:t>注入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路径遍历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命令注入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9906B58-E2F0-4EFC-8A3C-C6AD1A3D148E}"/>
              </a:ext>
            </a:extLst>
          </p:cNvPr>
          <p:cNvSpPr txBox="1"/>
          <p:nvPr/>
        </p:nvSpPr>
        <p:spPr>
          <a:xfrm>
            <a:off x="515465" y="2998177"/>
            <a:ext cx="560922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寻找首选修复位置策略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数据输入的位置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初始化类字段时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数据流结束的位置（尽可能的带来更小的副作用）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66128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F027F4B-3C6F-4399-A356-E31BCC3DA3A8}"/>
              </a:ext>
            </a:extLst>
          </p:cNvPr>
          <p:cNvSpPr/>
          <p:nvPr/>
        </p:nvSpPr>
        <p:spPr>
          <a:xfrm>
            <a:off x="45946" y="168625"/>
            <a:ext cx="30877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提出了一个</a:t>
            </a:r>
            <a:r>
              <a:rPr lang="en-US" altLang="zh-CN" dirty="0" err="1"/>
              <a:t>globalview</a:t>
            </a:r>
            <a:r>
              <a:rPr lang="zh-CN" altLang="en-US" dirty="0"/>
              <a:t>可视化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EF5F7B9-BD68-4EE3-85F3-0BBEF0EB72CE}"/>
              </a:ext>
            </a:extLst>
          </p:cNvPr>
          <p:cNvSpPr txBox="1"/>
          <p:nvPr/>
        </p:nvSpPr>
        <p:spPr>
          <a:xfrm>
            <a:off x="334109" y="1195754"/>
            <a:ext cx="468589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分组显示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绘制漏洞警告节点和首选修复位置节点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不同颜色的矩形表示不同类型的漏洞警告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圆表示跟踪节点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蓝色（亮的和暗的）圆圈是</a:t>
            </a:r>
            <a:r>
              <a:rPr lang="en-US" altLang="zh-CN" dirty="0" err="1"/>
              <a:t>pFixLocs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橙色圆圈是</a:t>
            </a:r>
            <a:r>
              <a:rPr lang="en-US" altLang="zh-CN" dirty="0" err="1"/>
              <a:t>pFixLocs</a:t>
            </a:r>
            <a:r>
              <a:rPr lang="zh-CN" altLang="en-US" dirty="0"/>
              <a:t>以外的跟踪节点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可交互可点击（展现详细的信息）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04A2EEA-EB49-4EBB-9854-F38F5BC8F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684" y="537957"/>
            <a:ext cx="5403048" cy="464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6982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0F0EC3D-7D4E-420C-A576-F31BFB429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387" y="215806"/>
            <a:ext cx="2568163" cy="31244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78DB8A7-1FFA-4D1C-8E8A-3DCDC0C5A259}"/>
              </a:ext>
            </a:extLst>
          </p:cNvPr>
          <p:cNvSpPr txBox="1"/>
          <p:nvPr/>
        </p:nvSpPr>
        <p:spPr>
          <a:xfrm>
            <a:off x="528918" y="851647"/>
            <a:ext cx="445506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问题：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大量的误报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开发人员对检测结果不感兴趣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错误结果浪费时间和资源</a:t>
            </a: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r>
              <a:rPr lang="zh-CN" altLang="en-US" dirty="0"/>
              <a:t>解决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对</a:t>
            </a:r>
            <a:r>
              <a:rPr lang="en-US" altLang="zh-CN" dirty="0"/>
              <a:t>SAST</a:t>
            </a:r>
            <a:r>
              <a:rPr lang="zh-CN" altLang="en-US" dirty="0"/>
              <a:t>特有的误报进行处理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使得两个不完整的信息流组合变得完整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E737ACC-BCAC-4CEA-A8C2-6509B0E08D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4101" y="572215"/>
            <a:ext cx="4084674" cy="914479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C634CD54-4370-49CA-9619-2EEB2C994006}"/>
              </a:ext>
            </a:extLst>
          </p:cNvPr>
          <p:cNvCxnSpPr>
            <a:endCxn id="4" idx="1"/>
          </p:cNvCxnSpPr>
          <p:nvPr/>
        </p:nvCxnSpPr>
        <p:spPr>
          <a:xfrm flipV="1">
            <a:off x="2558562" y="1029455"/>
            <a:ext cx="2365539" cy="254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C093B752-4078-4FED-976B-E33F34B9A3B3}"/>
              </a:ext>
            </a:extLst>
          </p:cNvPr>
          <p:cNvCxnSpPr>
            <a:cxnSpLocks/>
          </p:cNvCxnSpPr>
          <p:nvPr/>
        </p:nvCxnSpPr>
        <p:spPr>
          <a:xfrm flipH="1">
            <a:off x="3771901" y="1389185"/>
            <a:ext cx="2901461" cy="1318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6F717D6-3D32-4270-96B7-4A00749A68C3}"/>
              </a:ext>
            </a:extLst>
          </p:cNvPr>
          <p:cNvCxnSpPr/>
          <p:nvPr/>
        </p:nvCxnSpPr>
        <p:spPr>
          <a:xfrm flipH="1">
            <a:off x="4983984" y="1389185"/>
            <a:ext cx="1689378" cy="1573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A7E8051D-DBA0-434E-9129-820B0E47C1EC}"/>
              </a:ext>
            </a:extLst>
          </p:cNvPr>
          <p:cNvCxnSpPr/>
          <p:nvPr/>
        </p:nvCxnSpPr>
        <p:spPr>
          <a:xfrm>
            <a:off x="3982915" y="2708031"/>
            <a:ext cx="3112477" cy="167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3C0E56E9-4F83-4EFC-9891-8906E2024BEF}"/>
              </a:ext>
            </a:extLst>
          </p:cNvPr>
          <p:cNvSpPr txBox="1"/>
          <p:nvPr/>
        </p:nvSpPr>
        <p:spPr>
          <a:xfrm>
            <a:off x="7133069" y="2725616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检测输入是否可能会被实际执行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7B9FAE8B-5835-4815-B3B3-7AA4022E9823}"/>
              </a:ext>
            </a:extLst>
          </p:cNvPr>
          <p:cNvCxnSpPr/>
          <p:nvPr/>
        </p:nvCxnSpPr>
        <p:spPr>
          <a:xfrm>
            <a:off x="1582615" y="3159971"/>
            <a:ext cx="1248508" cy="11218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9229B4B1-785E-47AD-945A-192E0F5F8945}"/>
              </a:ext>
            </a:extLst>
          </p:cNvPr>
          <p:cNvSpPr txBox="1"/>
          <p:nvPr/>
        </p:nvSpPr>
        <p:spPr>
          <a:xfrm>
            <a:off x="3068515" y="4281854"/>
            <a:ext cx="7547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将数据输入到数据存储的数据流   与  数据存储到数据使用的数据流  结合</a:t>
            </a:r>
          </a:p>
        </p:txBody>
      </p:sp>
    </p:spTree>
    <p:extLst>
      <p:ext uri="{BB962C8B-B14F-4D97-AF65-F5344CB8AC3E}">
        <p14:creationId xmlns:p14="http://schemas.microsoft.com/office/powerpoint/2010/main" val="31775859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E1CEE93-DEEB-466C-A0DC-E113D6BB6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708" y="530452"/>
            <a:ext cx="1996613" cy="38103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D63C16B-E227-42E2-9C8B-D8A06EAD1480}"/>
              </a:ext>
            </a:extLst>
          </p:cNvPr>
          <p:cNvSpPr txBox="1"/>
          <p:nvPr/>
        </p:nvSpPr>
        <p:spPr>
          <a:xfrm>
            <a:off x="738554" y="1248508"/>
            <a:ext cx="422423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问题：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修复参考是给一个案例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与检测到的漏洞警告的代码有差异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不知道具体怎么修复漏洞</a:t>
            </a:r>
            <a:endParaRPr lang="en-US" altLang="zh-CN" dirty="0"/>
          </a:p>
          <a:p>
            <a:r>
              <a:rPr lang="zh-CN" altLang="en-US" dirty="0"/>
              <a:t>修复过程是手动完成的，容易出错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解决办法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根据代码上下文生成相应的修复模板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根据警告生成相应的修复的建议</a:t>
            </a:r>
            <a:endParaRPr lang="en-US" altLang="zh-CN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5235F071-FDD2-4314-A11B-ADB46C97E746}"/>
              </a:ext>
            </a:extLst>
          </p:cNvPr>
          <p:cNvCxnSpPr/>
          <p:nvPr/>
        </p:nvCxnSpPr>
        <p:spPr>
          <a:xfrm>
            <a:off x="4962787" y="3587262"/>
            <a:ext cx="1367675" cy="597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96EA1D66-563C-464E-9E0F-1E22B46BFE63}"/>
              </a:ext>
            </a:extLst>
          </p:cNvPr>
          <p:cNvSpPr txBox="1"/>
          <p:nvPr/>
        </p:nvSpPr>
        <p:spPr>
          <a:xfrm>
            <a:off x="6655777" y="4106007"/>
            <a:ext cx="38989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Priv</a:t>
            </a:r>
            <a:r>
              <a:rPr lang="zh-CN" altLang="en-US" dirty="0"/>
              <a:t>截取</a:t>
            </a:r>
            <a:r>
              <a:rPr lang="en-US" altLang="zh-CN" dirty="0" err="1"/>
              <a:t>AppScan</a:t>
            </a:r>
            <a:r>
              <a:rPr lang="en-US" altLang="zh-CN" dirty="0"/>
              <a:t> Source</a:t>
            </a:r>
            <a:r>
              <a:rPr lang="zh-CN" altLang="en-US" dirty="0"/>
              <a:t>中的修正页，并用针对每个漏洞警告的自定义修正建议替换通用修正信息</a:t>
            </a:r>
          </a:p>
        </p:txBody>
      </p:sp>
    </p:spTree>
    <p:extLst>
      <p:ext uri="{BB962C8B-B14F-4D97-AF65-F5344CB8AC3E}">
        <p14:creationId xmlns:p14="http://schemas.microsoft.com/office/powerpoint/2010/main" val="39718782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D70A44E5-3CD4-4A08-A0CD-618D04D79A40}"/>
              </a:ext>
            </a:extLst>
          </p:cNvPr>
          <p:cNvSpPr/>
          <p:nvPr/>
        </p:nvSpPr>
        <p:spPr>
          <a:xfrm>
            <a:off x="9821300" y="3624585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A8DD4BB-51C7-4C0B-81C4-F1B066DB113D}"/>
              </a:ext>
            </a:extLst>
          </p:cNvPr>
          <p:cNvGrpSpPr/>
          <p:nvPr/>
        </p:nvGrpSpPr>
        <p:grpSpPr>
          <a:xfrm>
            <a:off x="1882813" y="2027836"/>
            <a:ext cx="3272128" cy="3272128"/>
            <a:chOff x="1269667" y="1823914"/>
            <a:chExt cx="4093043" cy="4093043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03542460-5FFA-469E-BC92-40A91DA1B964}"/>
                </a:ext>
              </a:extLst>
            </p:cNvPr>
            <p:cNvSpPr/>
            <p:nvPr/>
          </p:nvSpPr>
          <p:spPr>
            <a:xfrm>
              <a:off x="1530950" y="2759518"/>
              <a:ext cx="2221834" cy="22218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098EAFD0-5228-4051-B8BE-C549502A83FC}"/>
                </a:ext>
              </a:extLst>
            </p:cNvPr>
            <p:cNvSpPr/>
            <p:nvPr/>
          </p:nvSpPr>
          <p:spPr>
            <a:xfrm>
              <a:off x="1269667" y="1823914"/>
              <a:ext cx="4093043" cy="4093043"/>
            </a:xfrm>
            <a:prstGeom prst="ellipse">
              <a:avLst/>
            </a:prstGeom>
            <a:noFill/>
            <a:ln w="571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2553F943-7E5E-4A56-B451-0160855CD2F9}"/>
              </a:ext>
            </a:extLst>
          </p:cNvPr>
          <p:cNvSpPr/>
          <p:nvPr/>
        </p:nvSpPr>
        <p:spPr>
          <a:xfrm>
            <a:off x="4646531" y="2959188"/>
            <a:ext cx="4093044" cy="122341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>
              <a:defRPr/>
            </a:pPr>
            <a:r>
              <a:rPr lang="zh-CN" altLang="en-US" sz="7500" b="1" spc="225" dirty="0">
                <a:solidFill>
                  <a:srgbClr val="292929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+mn-ea"/>
                <a:sym typeface="+mn-lt"/>
              </a:rPr>
              <a:t>评估</a:t>
            </a:r>
            <a:endParaRPr sz="7500" b="1" spc="225" dirty="0">
              <a:solidFill>
                <a:srgbClr val="292929"/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78984A5-F46A-499C-BB67-5E5FBC7EBD3A}"/>
              </a:ext>
            </a:extLst>
          </p:cNvPr>
          <p:cNvSpPr txBox="1"/>
          <p:nvPr/>
        </p:nvSpPr>
        <p:spPr>
          <a:xfrm>
            <a:off x="2037201" y="2959188"/>
            <a:ext cx="18307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093348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B2BA42D-0D46-47EF-A73B-4AE6CB6A2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11" y="112724"/>
            <a:ext cx="7019048" cy="114285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F5904F0-0BA2-492F-B8D1-3BEDE36402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35" y="3536215"/>
            <a:ext cx="4657143" cy="164761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AC4F48D-C266-448B-8FF3-5EA7C52779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0440" y="1255581"/>
            <a:ext cx="6639763" cy="1620975"/>
          </a:xfrm>
          <a:prstGeom prst="rect">
            <a:avLst/>
          </a:prstGeom>
        </p:spPr>
      </p:pic>
      <p:cxnSp>
        <p:nvCxnSpPr>
          <p:cNvPr id="6" name="连接符: 曲线 5">
            <a:extLst>
              <a:ext uri="{FF2B5EF4-FFF2-40B4-BE49-F238E27FC236}">
                <a16:creationId xmlns:a16="http://schemas.microsoft.com/office/drawing/2014/main" id="{D62215DA-C12E-4AC4-8981-E0718AA659AB}"/>
              </a:ext>
            </a:extLst>
          </p:cNvPr>
          <p:cNvCxnSpPr>
            <a:stCxn id="3" idx="1"/>
            <a:endCxn id="5" idx="1"/>
          </p:cNvCxnSpPr>
          <p:nvPr/>
        </p:nvCxnSpPr>
        <p:spPr>
          <a:xfrm rot="10800000" flipH="1" flipV="1">
            <a:off x="246610" y="684153"/>
            <a:ext cx="5133829" cy="1381916"/>
          </a:xfrm>
          <a:prstGeom prst="curvedConnector3">
            <a:avLst>
              <a:gd name="adj1" fmla="val -445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27185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>
            <a:extLst>
              <a:ext uri="{FF2B5EF4-FFF2-40B4-BE49-F238E27FC236}">
                <a16:creationId xmlns:a16="http://schemas.microsoft.com/office/drawing/2014/main" id="{806FFB5E-4B5E-4DC5-8F92-AE6D224CA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769" y="2778026"/>
            <a:ext cx="7689524" cy="3139197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299B6FDD-93F0-4C3D-A5E4-2EBCE20208A3}"/>
              </a:ext>
            </a:extLst>
          </p:cNvPr>
          <p:cNvSpPr/>
          <p:nvPr/>
        </p:nvSpPr>
        <p:spPr>
          <a:xfrm>
            <a:off x="229769" y="2017455"/>
            <a:ext cx="68040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/>
              <a:t>Priv</a:t>
            </a:r>
            <a:r>
              <a:rPr lang="zh-CN" altLang="en-US" dirty="0"/>
              <a:t>建议的修复位置与开发人员注释的修复位置之间的比较结果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9ED2CE5-AD7D-47E4-A5D8-A4B25CDB6B16}"/>
              </a:ext>
            </a:extLst>
          </p:cNvPr>
          <p:cNvSpPr txBox="1"/>
          <p:nvPr/>
        </p:nvSpPr>
        <p:spPr>
          <a:xfrm>
            <a:off x="229770" y="207763"/>
            <a:ext cx="4692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研究问题</a:t>
            </a:r>
            <a:r>
              <a:rPr lang="en-US" altLang="zh-CN" dirty="0"/>
              <a:t>1</a:t>
            </a:r>
            <a:r>
              <a:rPr lang="zh-CN" altLang="en-US" dirty="0"/>
              <a:t>：修复位置准确性、有效性如何？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37CF091-A9B5-4CD0-8AA2-D93B841774F0}"/>
              </a:ext>
            </a:extLst>
          </p:cNvPr>
          <p:cNvSpPr txBox="1"/>
          <p:nvPr/>
        </p:nvSpPr>
        <p:spPr>
          <a:xfrm>
            <a:off x="413238" y="808892"/>
            <a:ext cx="6787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方法：将</a:t>
            </a:r>
            <a:r>
              <a:rPr lang="en-US" altLang="zh-CN" dirty="0" err="1"/>
              <a:t>priv</a:t>
            </a:r>
            <a:r>
              <a:rPr lang="zh-CN" altLang="en-US" dirty="0"/>
              <a:t>程序标注的结果与案例原先专家提供的标注进行比较</a:t>
            </a:r>
          </a:p>
        </p:txBody>
      </p:sp>
    </p:spTree>
    <p:extLst>
      <p:ext uri="{BB962C8B-B14F-4D97-AF65-F5344CB8AC3E}">
        <p14:creationId xmlns:p14="http://schemas.microsoft.com/office/powerpoint/2010/main" val="30407269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FB86344-7E8C-440E-9D77-EC1280B81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432" y="391557"/>
            <a:ext cx="7108332" cy="1947489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6EADEBC3-C37D-4B24-B629-4EC8257FEF31}"/>
              </a:ext>
            </a:extLst>
          </p:cNvPr>
          <p:cNvCxnSpPr/>
          <p:nvPr/>
        </p:nvCxnSpPr>
        <p:spPr>
          <a:xfrm>
            <a:off x="2273300" y="2171700"/>
            <a:ext cx="520700" cy="596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AA53419B-2FB6-4744-B490-CA5F33C8B4AA}"/>
              </a:ext>
            </a:extLst>
          </p:cNvPr>
          <p:cNvSpPr txBox="1"/>
          <p:nvPr/>
        </p:nvSpPr>
        <p:spPr>
          <a:xfrm>
            <a:off x="2786282" y="2755900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平均发现一个漏洞，警告的修复位置的个数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B2E3D55-F5BB-4CC8-B5F9-AA4D2FD2ECCF}"/>
              </a:ext>
            </a:extLst>
          </p:cNvPr>
          <p:cNvSpPr/>
          <p:nvPr/>
        </p:nvSpPr>
        <p:spPr>
          <a:xfrm>
            <a:off x="248432" y="3357420"/>
            <a:ext cx="79375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</a:rPr>
              <a:t>表四显示了</a:t>
            </a:r>
            <a:r>
              <a:rPr lang="en-US" altLang="zh-CN" dirty="0" err="1">
                <a:latin typeface="Arial" panose="020B0604020202020204" pitchFamily="34" charset="0"/>
              </a:rPr>
              <a:t>Priv</a:t>
            </a:r>
            <a:r>
              <a:rPr lang="zh-CN" altLang="en-US" dirty="0">
                <a:latin typeface="Arial" panose="020B0604020202020204" pitchFamily="34" charset="0"/>
              </a:rPr>
              <a:t>如何优先考虑</a:t>
            </a:r>
            <a:r>
              <a:rPr lang="en-US" altLang="zh-CN" dirty="0" err="1">
                <a:latin typeface="Arial" panose="020B0604020202020204" pitchFamily="34" charset="0"/>
              </a:rPr>
              <a:t>AltoroJ</a:t>
            </a:r>
            <a:r>
              <a:rPr lang="zh-CN" altLang="en-US" dirty="0">
                <a:latin typeface="Arial" panose="020B0604020202020204" pitchFamily="34" charset="0"/>
              </a:rPr>
              <a:t>（被评估项目之一）的质量保证工作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6BBD4B1-A332-4A93-B510-4AB6968E10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726752"/>
            <a:ext cx="8623300" cy="162431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2193C31-4EF0-476D-9E81-804FBA9AD0CE}"/>
              </a:ext>
            </a:extLst>
          </p:cNvPr>
          <p:cNvSpPr/>
          <p:nvPr/>
        </p:nvSpPr>
        <p:spPr>
          <a:xfrm>
            <a:off x="248432" y="5543113"/>
            <a:ext cx="549381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第一行：开发人员需要调查的修复位置总数</a:t>
            </a:r>
            <a:endParaRPr lang="en-US" altLang="zh-CN" dirty="0"/>
          </a:p>
          <a:p>
            <a:r>
              <a:rPr lang="zh-CN" altLang="en-US" dirty="0"/>
              <a:t>第二行：解决漏洞警告的数量</a:t>
            </a:r>
            <a:endParaRPr lang="en-US" altLang="zh-CN" dirty="0"/>
          </a:p>
          <a:p>
            <a:r>
              <a:rPr lang="zh-CN" altLang="en-US" dirty="0"/>
              <a:t>第三行：平均一个修复位置可以解决漏洞警告的数量</a:t>
            </a:r>
          </a:p>
        </p:txBody>
      </p:sp>
    </p:spTree>
    <p:extLst>
      <p:ext uri="{BB962C8B-B14F-4D97-AF65-F5344CB8AC3E}">
        <p14:creationId xmlns:p14="http://schemas.microsoft.com/office/powerpoint/2010/main" val="5433110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7D1BBC25-2F40-4FA0-AC52-7D8599943D97}"/>
              </a:ext>
            </a:extLst>
          </p:cNvPr>
          <p:cNvSpPr txBox="1"/>
          <p:nvPr/>
        </p:nvSpPr>
        <p:spPr>
          <a:xfrm>
            <a:off x="229770" y="207763"/>
            <a:ext cx="5615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研究问题</a:t>
            </a:r>
            <a:r>
              <a:rPr lang="en-US" altLang="zh-CN" dirty="0"/>
              <a:t>2</a:t>
            </a:r>
            <a:r>
              <a:rPr lang="zh-CN" altLang="en-US" dirty="0"/>
              <a:t>：与操作数据库和属性相关的漏洞识别效果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6E4055B-9B50-4384-8222-FB208B63D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98" y="2331437"/>
            <a:ext cx="7595040" cy="395152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309DAD6-9A59-4C3B-A87B-6AEB7F225BE9}"/>
              </a:ext>
            </a:extLst>
          </p:cNvPr>
          <p:cNvSpPr txBox="1"/>
          <p:nvPr/>
        </p:nvSpPr>
        <p:spPr>
          <a:xfrm>
            <a:off x="476298" y="997762"/>
            <a:ext cx="58400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方法：使用</a:t>
            </a:r>
            <a:r>
              <a:rPr lang="en-US" altLang="zh-CN" dirty="0" err="1"/>
              <a:t>Priv</a:t>
            </a:r>
            <a:r>
              <a:rPr lang="zh-CN" altLang="en-US" dirty="0"/>
              <a:t>去识别数据和属性相关的漏洞</a:t>
            </a:r>
            <a:endParaRPr lang="en-US" altLang="zh-CN" dirty="0"/>
          </a:p>
          <a:p>
            <a:r>
              <a:rPr lang="en-US" altLang="zh-CN" dirty="0" err="1"/>
              <a:t>Priv</a:t>
            </a:r>
            <a:r>
              <a:rPr lang="zh-CN" altLang="en-US" dirty="0"/>
              <a:t>缺陷：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需要手动指定数据库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如果有相关属性是字符串则提取，否则需要手动指定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9DD99B-6016-4965-AF78-2E8F68D26D9F}"/>
              </a:ext>
            </a:extLst>
          </p:cNvPr>
          <p:cNvSpPr/>
          <p:nvPr/>
        </p:nvSpPr>
        <p:spPr>
          <a:xfrm>
            <a:off x="2892669" y="3771900"/>
            <a:ext cx="5037993" cy="7297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50CA05-2F70-4603-A36B-1F0884618EC4}"/>
              </a:ext>
            </a:extLst>
          </p:cNvPr>
          <p:cNvSpPr/>
          <p:nvPr/>
        </p:nvSpPr>
        <p:spPr>
          <a:xfrm>
            <a:off x="2892669" y="5593056"/>
            <a:ext cx="5037993" cy="7297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5D7BAE5-1B74-46DF-ACEB-673B37A08C69}"/>
              </a:ext>
            </a:extLst>
          </p:cNvPr>
          <p:cNvSpPr txBox="1"/>
          <p:nvPr/>
        </p:nvSpPr>
        <p:spPr>
          <a:xfrm>
            <a:off x="7535009" y="1295268"/>
            <a:ext cx="4656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结论：能够识别所有可操作警告，消除误报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265AD25E-4C6E-4FD1-B5EF-82C2BB646C8A}"/>
              </a:ext>
            </a:extLst>
          </p:cNvPr>
          <p:cNvCxnSpPr/>
          <p:nvPr/>
        </p:nvCxnSpPr>
        <p:spPr>
          <a:xfrm flipV="1">
            <a:off x="8071338" y="1664600"/>
            <a:ext cx="1424354" cy="2423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C8BBCA2-0D25-4077-84A9-BD585783A2CD}"/>
              </a:ext>
            </a:extLst>
          </p:cNvPr>
          <p:cNvCxnSpPr/>
          <p:nvPr/>
        </p:nvCxnSpPr>
        <p:spPr>
          <a:xfrm flipV="1">
            <a:off x="8229600" y="1664600"/>
            <a:ext cx="1327638" cy="4331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76000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DE51A9A-7B33-49A2-8266-845EC38A6E7A}"/>
              </a:ext>
            </a:extLst>
          </p:cNvPr>
          <p:cNvSpPr txBox="1"/>
          <p:nvPr/>
        </p:nvSpPr>
        <p:spPr>
          <a:xfrm>
            <a:off x="229770" y="207763"/>
            <a:ext cx="4825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研究问题</a:t>
            </a:r>
            <a:r>
              <a:rPr lang="en-US" altLang="zh-CN" dirty="0"/>
              <a:t>3</a:t>
            </a:r>
            <a:r>
              <a:rPr lang="zh-CN" altLang="en-US" dirty="0"/>
              <a:t>：</a:t>
            </a:r>
            <a:r>
              <a:rPr lang="en-US" altLang="zh-CN" dirty="0" err="1"/>
              <a:t>Priv</a:t>
            </a:r>
            <a:r>
              <a:rPr lang="zh-CN" altLang="en-US" dirty="0"/>
              <a:t>提供的修复建议质量怎么样？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746B04A-9770-4F84-84AE-8DA9F0318C0A}"/>
              </a:ext>
            </a:extLst>
          </p:cNvPr>
          <p:cNvSpPr txBox="1"/>
          <p:nvPr/>
        </p:nvSpPr>
        <p:spPr>
          <a:xfrm>
            <a:off x="378069" y="1002323"/>
            <a:ext cx="33185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方法：</a:t>
            </a:r>
            <a:endParaRPr lang="en-US" altLang="zh-CN" dirty="0"/>
          </a:p>
          <a:p>
            <a:r>
              <a:rPr lang="zh-CN" altLang="en-US" dirty="0"/>
              <a:t>手动将</a:t>
            </a:r>
            <a:r>
              <a:rPr lang="en-US" altLang="zh-CN" dirty="0" err="1"/>
              <a:t>Priv</a:t>
            </a:r>
            <a:r>
              <a:rPr lang="zh-CN" altLang="en-US" dirty="0"/>
              <a:t>的修复结果分为三类</a:t>
            </a:r>
            <a:endParaRPr lang="en-US" altLang="zh-CN" dirty="0"/>
          </a:p>
          <a:p>
            <a:r>
              <a:rPr lang="zh-CN" altLang="en-US" dirty="0"/>
              <a:t>观察不同类别的比例</a:t>
            </a:r>
            <a:endParaRPr lang="en-US" altLang="zh-CN" dirty="0"/>
          </a:p>
          <a:p>
            <a:r>
              <a:rPr lang="zh-CN" altLang="en-US" dirty="0"/>
              <a:t>每个类别各自的情况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91B6940-574D-4956-8FD2-F5A72CB9C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5130" y="771443"/>
            <a:ext cx="6172735" cy="1257409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EB495713-3578-4B88-9789-3D05CBE5BFF2}"/>
              </a:ext>
            </a:extLst>
          </p:cNvPr>
          <p:cNvCxnSpPr/>
          <p:nvPr/>
        </p:nvCxnSpPr>
        <p:spPr>
          <a:xfrm>
            <a:off x="3696606" y="1408940"/>
            <a:ext cx="10965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BEF9AD8B-EB1D-46C3-A049-68BF313C9A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6253" y="2580596"/>
            <a:ext cx="5996895" cy="3884849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73A87FD-7725-4659-8C92-FB7C2C892AFB}"/>
              </a:ext>
            </a:extLst>
          </p:cNvPr>
          <p:cNvSpPr txBox="1"/>
          <p:nvPr/>
        </p:nvSpPr>
        <p:spPr>
          <a:xfrm>
            <a:off x="492369" y="447528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修复的案例</a:t>
            </a:r>
          </a:p>
        </p:txBody>
      </p:sp>
    </p:spTree>
    <p:extLst>
      <p:ext uri="{BB962C8B-B14F-4D97-AF65-F5344CB8AC3E}">
        <p14:creationId xmlns:p14="http://schemas.microsoft.com/office/powerpoint/2010/main" val="3651621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2A9752A-97D4-4E6D-AA81-5B4E9BDC8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397" y="177332"/>
            <a:ext cx="7375633" cy="361985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5C43C3C-A983-4046-A359-47A7575920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95" y="3797187"/>
            <a:ext cx="7071635" cy="281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0886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D70A44E5-3CD4-4A08-A0CD-618D04D79A40}"/>
              </a:ext>
            </a:extLst>
          </p:cNvPr>
          <p:cNvSpPr/>
          <p:nvPr/>
        </p:nvSpPr>
        <p:spPr>
          <a:xfrm>
            <a:off x="9821300" y="3624585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A8DD4BB-51C7-4C0B-81C4-F1B066DB113D}"/>
              </a:ext>
            </a:extLst>
          </p:cNvPr>
          <p:cNvGrpSpPr/>
          <p:nvPr/>
        </p:nvGrpSpPr>
        <p:grpSpPr>
          <a:xfrm>
            <a:off x="1882813" y="2027836"/>
            <a:ext cx="3272128" cy="3272128"/>
            <a:chOff x="1269667" y="1823914"/>
            <a:chExt cx="4093043" cy="4093043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03542460-5FFA-469E-BC92-40A91DA1B964}"/>
                </a:ext>
              </a:extLst>
            </p:cNvPr>
            <p:cNvSpPr/>
            <p:nvPr/>
          </p:nvSpPr>
          <p:spPr>
            <a:xfrm>
              <a:off x="1530950" y="2759518"/>
              <a:ext cx="2221834" cy="22218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098EAFD0-5228-4051-B8BE-C549502A83FC}"/>
                </a:ext>
              </a:extLst>
            </p:cNvPr>
            <p:cNvSpPr/>
            <p:nvPr/>
          </p:nvSpPr>
          <p:spPr>
            <a:xfrm>
              <a:off x="1269667" y="1823914"/>
              <a:ext cx="4093043" cy="4093043"/>
            </a:xfrm>
            <a:prstGeom prst="ellipse">
              <a:avLst/>
            </a:prstGeom>
            <a:noFill/>
            <a:ln w="571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2553F943-7E5E-4A56-B451-0160855CD2F9}"/>
              </a:ext>
            </a:extLst>
          </p:cNvPr>
          <p:cNvSpPr/>
          <p:nvPr/>
        </p:nvSpPr>
        <p:spPr>
          <a:xfrm>
            <a:off x="4646531" y="2959188"/>
            <a:ext cx="6426022" cy="108491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>
              <a:defRPr/>
            </a:pPr>
            <a:r>
              <a:rPr lang="zh-CN" altLang="en-US" sz="6600" b="1" spc="225" dirty="0">
                <a:solidFill>
                  <a:srgbClr val="292929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+mn-ea"/>
                <a:sym typeface="+mn-lt"/>
              </a:rPr>
              <a:t>还存在的问题</a:t>
            </a:r>
            <a:endParaRPr sz="6600" b="1" spc="225" dirty="0">
              <a:solidFill>
                <a:srgbClr val="292929"/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78984A5-F46A-499C-BB67-5E5FBC7EBD3A}"/>
              </a:ext>
            </a:extLst>
          </p:cNvPr>
          <p:cNvSpPr txBox="1"/>
          <p:nvPr/>
        </p:nvSpPr>
        <p:spPr>
          <a:xfrm>
            <a:off x="2037201" y="2959188"/>
            <a:ext cx="18307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73029224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0D3D2C7-541F-429E-BA52-DF6E98D9F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46253"/>
            <a:ext cx="12192000" cy="436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530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D70A44E5-3CD4-4A08-A0CD-618D04D79A40}"/>
              </a:ext>
            </a:extLst>
          </p:cNvPr>
          <p:cNvSpPr/>
          <p:nvPr/>
        </p:nvSpPr>
        <p:spPr>
          <a:xfrm>
            <a:off x="9821300" y="3624585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A8DD4BB-51C7-4C0B-81C4-F1B066DB113D}"/>
              </a:ext>
            </a:extLst>
          </p:cNvPr>
          <p:cNvGrpSpPr/>
          <p:nvPr/>
        </p:nvGrpSpPr>
        <p:grpSpPr>
          <a:xfrm>
            <a:off x="1882813" y="2027836"/>
            <a:ext cx="3272128" cy="3272128"/>
            <a:chOff x="1269667" y="1823914"/>
            <a:chExt cx="4093043" cy="4093043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03542460-5FFA-469E-BC92-40A91DA1B964}"/>
                </a:ext>
              </a:extLst>
            </p:cNvPr>
            <p:cNvSpPr/>
            <p:nvPr/>
          </p:nvSpPr>
          <p:spPr>
            <a:xfrm>
              <a:off x="1530950" y="2759518"/>
              <a:ext cx="2221834" cy="22218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098EAFD0-5228-4051-B8BE-C549502A83FC}"/>
                </a:ext>
              </a:extLst>
            </p:cNvPr>
            <p:cNvSpPr/>
            <p:nvPr/>
          </p:nvSpPr>
          <p:spPr>
            <a:xfrm>
              <a:off x="1269667" y="1823914"/>
              <a:ext cx="4093043" cy="4093043"/>
            </a:xfrm>
            <a:prstGeom prst="ellipse">
              <a:avLst/>
            </a:prstGeom>
            <a:noFill/>
            <a:ln w="571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2553F943-7E5E-4A56-B451-0160855CD2F9}"/>
              </a:ext>
            </a:extLst>
          </p:cNvPr>
          <p:cNvSpPr/>
          <p:nvPr/>
        </p:nvSpPr>
        <p:spPr>
          <a:xfrm>
            <a:off x="4646531" y="2959188"/>
            <a:ext cx="6309644" cy="122341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>
              <a:defRPr/>
            </a:pPr>
            <a:r>
              <a:rPr lang="zh-CN" altLang="en-US" sz="7200" b="1" spc="225" dirty="0">
                <a:solidFill>
                  <a:srgbClr val="292929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+mn-ea"/>
                <a:sym typeface="+mn-lt"/>
              </a:rPr>
              <a:t>前人相关工作</a:t>
            </a:r>
            <a:endParaRPr sz="7200" b="1" spc="225" dirty="0">
              <a:solidFill>
                <a:srgbClr val="292929"/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78984A5-F46A-499C-BB67-5E5FBC7EBD3A}"/>
              </a:ext>
            </a:extLst>
          </p:cNvPr>
          <p:cNvSpPr txBox="1"/>
          <p:nvPr/>
        </p:nvSpPr>
        <p:spPr>
          <a:xfrm>
            <a:off x="2037201" y="2959188"/>
            <a:ext cx="18307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8752363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A51BB57-30CA-4609-822D-942516431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91" y="2393455"/>
            <a:ext cx="3914428" cy="179411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DCCB2D6-1DA9-40AD-948F-7DF724932E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005" y="667374"/>
            <a:ext cx="3914428" cy="261574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B4384DE-84DB-46A5-A4F1-B9F3CBE744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7665" y="3290512"/>
            <a:ext cx="4650524" cy="292513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6669289-203C-4B82-8757-CED0BF4C8F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644" y="4807110"/>
            <a:ext cx="5196551" cy="1449434"/>
          </a:xfrm>
          <a:prstGeom prst="rect">
            <a:avLst/>
          </a:prstGeom>
        </p:spPr>
      </p:pic>
      <p:cxnSp>
        <p:nvCxnSpPr>
          <p:cNvPr id="10" name="连接符: 曲线 9">
            <a:extLst>
              <a:ext uri="{FF2B5EF4-FFF2-40B4-BE49-F238E27FC236}">
                <a16:creationId xmlns:a16="http://schemas.microsoft.com/office/drawing/2014/main" id="{A451C86F-5F2D-4D14-B084-C212E1CEF108}"/>
              </a:ext>
            </a:extLst>
          </p:cNvPr>
          <p:cNvCxnSpPr>
            <a:cxnSpLocks/>
            <a:endCxn id="3" idx="1"/>
          </p:cNvCxnSpPr>
          <p:nvPr/>
        </p:nvCxnSpPr>
        <p:spPr>
          <a:xfrm rot="16200000" flipV="1">
            <a:off x="328807" y="1557298"/>
            <a:ext cx="1550881" cy="455164"/>
          </a:xfrm>
          <a:prstGeom prst="curvedConnector4">
            <a:avLst>
              <a:gd name="adj1" fmla="val 23612"/>
              <a:gd name="adj2" fmla="val 15022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曲线 11">
            <a:extLst>
              <a:ext uri="{FF2B5EF4-FFF2-40B4-BE49-F238E27FC236}">
                <a16:creationId xmlns:a16="http://schemas.microsoft.com/office/drawing/2014/main" id="{81DCD82C-0BFD-4DB5-ACBF-2A754B90AA1A}"/>
              </a:ext>
            </a:extLst>
          </p:cNvPr>
          <p:cNvCxnSpPr>
            <a:endCxn id="6" idx="1"/>
          </p:cNvCxnSpPr>
          <p:nvPr/>
        </p:nvCxnSpPr>
        <p:spPr>
          <a:xfrm flipV="1">
            <a:off x="3505607" y="1975247"/>
            <a:ext cx="3637398" cy="109214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946295CB-8DA9-4692-B6EF-A328B63A062E}"/>
              </a:ext>
            </a:extLst>
          </p:cNvPr>
          <p:cNvCxnSpPr>
            <a:endCxn id="7" idx="1"/>
          </p:cNvCxnSpPr>
          <p:nvPr/>
        </p:nvCxnSpPr>
        <p:spPr>
          <a:xfrm>
            <a:off x="4039119" y="3541222"/>
            <a:ext cx="2798546" cy="121185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曲线 15">
            <a:extLst>
              <a:ext uri="{FF2B5EF4-FFF2-40B4-BE49-F238E27FC236}">
                <a16:creationId xmlns:a16="http://schemas.microsoft.com/office/drawing/2014/main" id="{4B0A6EFD-2B7A-46A7-A03B-9A507FDBE1C3}"/>
              </a:ext>
            </a:extLst>
          </p:cNvPr>
          <p:cNvCxnSpPr>
            <a:endCxn id="8" idx="1"/>
          </p:cNvCxnSpPr>
          <p:nvPr/>
        </p:nvCxnSpPr>
        <p:spPr>
          <a:xfrm rot="5400000">
            <a:off x="184472" y="4384470"/>
            <a:ext cx="1483529" cy="811184"/>
          </a:xfrm>
          <a:prstGeom prst="curvedConnector4">
            <a:avLst>
              <a:gd name="adj1" fmla="val 25575"/>
              <a:gd name="adj2" fmla="val 12818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1ED9205E-1E02-4374-98F6-2A9848FD82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665" y="190932"/>
            <a:ext cx="4703824" cy="163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1429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D70A44E5-3CD4-4A08-A0CD-618D04D79A40}"/>
              </a:ext>
            </a:extLst>
          </p:cNvPr>
          <p:cNvSpPr/>
          <p:nvPr/>
        </p:nvSpPr>
        <p:spPr>
          <a:xfrm>
            <a:off x="9821300" y="3624585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A8DD4BB-51C7-4C0B-81C4-F1B066DB113D}"/>
              </a:ext>
            </a:extLst>
          </p:cNvPr>
          <p:cNvGrpSpPr/>
          <p:nvPr/>
        </p:nvGrpSpPr>
        <p:grpSpPr>
          <a:xfrm>
            <a:off x="1882813" y="2027836"/>
            <a:ext cx="3272128" cy="3272128"/>
            <a:chOff x="1269667" y="1823914"/>
            <a:chExt cx="4093043" cy="4093043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03542460-5FFA-469E-BC92-40A91DA1B964}"/>
                </a:ext>
              </a:extLst>
            </p:cNvPr>
            <p:cNvSpPr/>
            <p:nvPr/>
          </p:nvSpPr>
          <p:spPr>
            <a:xfrm>
              <a:off x="1530950" y="2759518"/>
              <a:ext cx="2221834" cy="22218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098EAFD0-5228-4051-B8BE-C549502A83FC}"/>
                </a:ext>
              </a:extLst>
            </p:cNvPr>
            <p:cNvSpPr/>
            <p:nvPr/>
          </p:nvSpPr>
          <p:spPr>
            <a:xfrm>
              <a:off x="1269667" y="1823914"/>
              <a:ext cx="4093043" cy="4093043"/>
            </a:xfrm>
            <a:prstGeom prst="ellipse">
              <a:avLst/>
            </a:prstGeom>
            <a:noFill/>
            <a:ln w="571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2553F943-7E5E-4A56-B451-0160855CD2F9}"/>
              </a:ext>
            </a:extLst>
          </p:cNvPr>
          <p:cNvSpPr/>
          <p:nvPr/>
        </p:nvSpPr>
        <p:spPr>
          <a:xfrm>
            <a:off x="4646531" y="2959188"/>
            <a:ext cx="4093044" cy="122341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>
              <a:defRPr/>
            </a:pPr>
            <a:r>
              <a:rPr lang="zh-CN" altLang="en-US" sz="7500" b="1" spc="225" dirty="0">
                <a:solidFill>
                  <a:srgbClr val="292929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+mn-ea"/>
                <a:sym typeface="+mn-lt"/>
              </a:rPr>
              <a:t>总结</a:t>
            </a:r>
            <a:endParaRPr sz="7500" b="1" spc="225" dirty="0">
              <a:solidFill>
                <a:srgbClr val="292929"/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78984A5-F46A-499C-BB67-5E5FBC7EBD3A}"/>
              </a:ext>
            </a:extLst>
          </p:cNvPr>
          <p:cNvSpPr txBox="1"/>
          <p:nvPr/>
        </p:nvSpPr>
        <p:spPr>
          <a:xfrm>
            <a:off x="2037201" y="2959188"/>
            <a:ext cx="18307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2349097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/>
      <p:bldP spid="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80A25F5-22CF-4323-98C9-B0A7AE879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5016" y="1291545"/>
            <a:ext cx="4619048" cy="34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8856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E1B4E00B-A59F-40B7-AE12-5CA474CE7727}"/>
              </a:ext>
            </a:extLst>
          </p:cNvPr>
          <p:cNvSpPr/>
          <p:nvPr/>
        </p:nvSpPr>
        <p:spPr>
          <a:xfrm>
            <a:off x="3006189" y="2318083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6422D18-37EE-4390-A0D0-947CB31C5CD6}"/>
              </a:ext>
            </a:extLst>
          </p:cNvPr>
          <p:cNvSpPr/>
          <p:nvPr/>
        </p:nvSpPr>
        <p:spPr>
          <a:xfrm>
            <a:off x="9228795" y="320040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95759E0-70EB-4F31-9979-C48DF9140050}"/>
              </a:ext>
            </a:extLst>
          </p:cNvPr>
          <p:cNvSpPr/>
          <p:nvPr/>
        </p:nvSpPr>
        <p:spPr>
          <a:xfrm>
            <a:off x="2744906" y="1382479"/>
            <a:ext cx="4093043" cy="409304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E665AE-D1F7-4530-A01D-8118F2016433}"/>
              </a:ext>
            </a:extLst>
          </p:cNvPr>
          <p:cNvSpPr/>
          <p:nvPr/>
        </p:nvSpPr>
        <p:spPr>
          <a:xfrm>
            <a:off x="3006189" y="2792067"/>
            <a:ext cx="6166377" cy="122341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7500" b="1" spc="225" dirty="0">
                <a:solidFill>
                  <a:srgbClr val="292929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+mn-ea"/>
                <a:sym typeface="+mn-lt"/>
              </a:rPr>
              <a:t>感谢您的观看</a:t>
            </a:r>
            <a:endParaRPr sz="7500" b="1" spc="225" dirty="0">
              <a:solidFill>
                <a:srgbClr val="292929"/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8238AC-3B1F-4281-98A3-D0FE900CC5AA}"/>
              </a:ext>
            </a:extLst>
          </p:cNvPr>
          <p:cNvSpPr/>
          <p:nvPr/>
        </p:nvSpPr>
        <p:spPr>
          <a:xfrm>
            <a:off x="6089377" y="4015479"/>
            <a:ext cx="2783148" cy="56169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>
              <a:defRPr/>
            </a:pPr>
            <a:r>
              <a:rPr lang="en-US" altLang="zh-CN" sz="3200" spc="225" dirty="0">
                <a:solidFill>
                  <a:srgbClr val="292929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+mn-ea"/>
                <a:sym typeface="+mn-lt"/>
              </a:rPr>
              <a:t>Thanks </a:t>
            </a:r>
            <a:endParaRPr sz="3200" spc="225" dirty="0">
              <a:solidFill>
                <a:srgbClr val="292929"/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00EFA96-0182-425D-BCA4-E63B2E97FADD}"/>
              </a:ext>
            </a:extLst>
          </p:cNvPr>
          <p:cNvSpPr/>
          <p:nvPr/>
        </p:nvSpPr>
        <p:spPr>
          <a:xfrm flipH="1">
            <a:off x="11469292" y="6256421"/>
            <a:ext cx="97066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77309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1" grpId="0"/>
      <p:bldP spid="13" grpId="0"/>
      <p:bldP spid="16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述职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1024</TotalTime>
  <Words>678</Words>
  <Application>Microsoft Office PowerPoint</Application>
  <PresentationFormat>宽屏</PresentationFormat>
  <Paragraphs>119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2" baseType="lpstr">
      <vt:lpstr>STHeitiSC-Light</vt:lpstr>
      <vt:lpstr>等线</vt:lpstr>
      <vt:lpstr>等线 Light</vt:lpstr>
      <vt:lpstr>字魂58号-创中黑</vt:lpstr>
      <vt:lpstr>字魂59号-创粗黑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dc:description>http://www.ypppt.com/</dc:description>
  <cp:lastModifiedBy>陈 克豪</cp:lastModifiedBy>
  <cp:revision>94</cp:revision>
  <dcterms:created xsi:type="dcterms:W3CDTF">2019-06-11T09:29:47Z</dcterms:created>
  <dcterms:modified xsi:type="dcterms:W3CDTF">2020-06-09T13:02:46Z</dcterms:modified>
</cp:coreProperties>
</file>